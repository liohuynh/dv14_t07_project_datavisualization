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7AB946-F2D1-48D6-A65E-AD2387DC5DA7}" v="11" dt="2026-06-01T14:59:23.489"/>
    <p1510:client id="{56C57AE4-CCF2-42FB-A39B-E7424DD6B92C}" v="7" dt="2026-06-01T14:27:06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G HUYNH" userId="347543c0-edcb-4551-9dae-56ac1e040b3a" providerId="ADAL" clId="{05FD0FEC-E284-4E23-AD78-8995699B9C90}"/>
    <pc:docChg chg="modSld">
      <pc:chgData name="KHANG HUYNH" userId="347543c0-edcb-4551-9dae-56ac1e040b3a" providerId="ADAL" clId="{05FD0FEC-E284-4E23-AD78-8995699B9C90}" dt="2026-06-01T15:00:18.022" v="41" actId="20577"/>
      <pc:docMkLst>
        <pc:docMk/>
      </pc:docMkLst>
      <pc:sldChg chg="modSp mod">
        <pc:chgData name="KHANG HUYNH" userId="347543c0-edcb-4551-9dae-56ac1e040b3a" providerId="ADAL" clId="{05FD0FEC-E284-4E23-AD78-8995699B9C90}" dt="2026-06-01T15:00:18.022" v="41" actId="20577"/>
        <pc:sldMkLst>
          <pc:docMk/>
          <pc:sldMk cId="3524378883" sldId="262"/>
        </pc:sldMkLst>
        <pc:spChg chg="mod">
          <ac:chgData name="KHANG HUYNH" userId="347543c0-edcb-4551-9dae-56ac1e040b3a" providerId="ADAL" clId="{05FD0FEC-E284-4E23-AD78-8995699B9C90}" dt="2026-06-01T15:00:18.022" v="41" actId="20577"/>
          <ac:spMkLst>
            <pc:docMk/>
            <pc:sldMk cId="3524378883" sldId="262"/>
            <ac:spMk id="3" creationId="{60843CA0-981B-8DEA-1F12-403266F52C39}"/>
          </ac:spMkLst>
        </pc:spChg>
      </pc:sldChg>
    </pc:docChg>
  </pc:docChgLst>
  <pc:docChgLst>
    <pc:chgData name="KHANG HUYNH" userId="S::104849346@student.swin.edu.au::347543c0-edcb-4551-9dae-56ac1e040b3a" providerId="AD" clId="Web-{56C57AE4-CCF2-42FB-A39B-E7424DD6B92C}"/>
    <pc:docChg chg="modSld">
      <pc:chgData name="KHANG HUYNH" userId="S::104849346@student.swin.edu.au::347543c0-edcb-4551-9dae-56ac1e040b3a" providerId="AD" clId="Web-{56C57AE4-CCF2-42FB-A39B-E7424DD6B92C}" dt="2026-06-01T14:27:06.824" v="3" actId="20577"/>
      <pc:docMkLst>
        <pc:docMk/>
      </pc:docMkLst>
      <pc:sldChg chg="addSp modSp">
        <pc:chgData name="KHANG HUYNH" userId="S::104849346@student.swin.edu.au::347543c0-edcb-4551-9dae-56ac1e040b3a" providerId="AD" clId="Web-{56C57AE4-CCF2-42FB-A39B-E7424DD6B92C}" dt="2026-06-01T14:27:06.824" v="3" actId="20577"/>
        <pc:sldMkLst>
          <pc:docMk/>
          <pc:sldMk cId="3524378883" sldId="262"/>
        </pc:sldMkLst>
        <pc:spChg chg="add mod">
          <ac:chgData name="KHANG HUYNH" userId="S::104849346@student.swin.edu.au::347543c0-edcb-4551-9dae-56ac1e040b3a" providerId="AD" clId="Web-{56C57AE4-CCF2-42FB-A39B-E7424DD6B92C}" dt="2026-06-01T14:27:06.824" v="3" actId="20577"/>
          <ac:spMkLst>
            <pc:docMk/>
            <pc:sldMk cId="3524378883" sldId="262"/>
            <ac:spMk id="3" creationId="{60843CA0-981B-8DEA-1F12-403266F52C39}"/>
          </ac:spMkLst>
        </pc:spChg>
      </pc:sldChg>
    </pc:docChg>
  </pc:docChgLst>
  <pc:docChgLst>
    <pc:chgData name="KHANG HUYNH" userId="S::104849346@student.swin.edu.au::347543c0-edcb-4551-9dae-56ac1e040b3a" providerId="AD" clId="Web-{2B7AB946-F2D1-48D6-A65E-AD2387DC5DA7}"/>
    <pc:docChg chg="modSld">
      <pc:chgData name="KHANG HUYNH" userId="S::104849346@student.swin.edu.au::347543c0-edcb-4551-9dae-56ac1e040b3a" providerId="AD" clId="Web-{2B7AB946-F2D1-48D6-A65E-AD2387DC5DA7}" dt="2026-06-01T14:59:23.489" v="10" actId="1076"/>
      <pc:docMkLst>
        <pc:docMk/>
      </pc:docMkLst>
      <pc:sldChg chg="modSp">
        <pc:chgData name="KHANG HUYNH" userId="S::104849346@student.swin.edu.au::347543c0-edcb-4551-9dae-56ac1e040b3a" providerId="AD" clId="Web-{2B7AB946-F2D1-48D6-A65E-AD2387DC5DA7}" dt="2026-06-01T14:59:23.489" v="10" actId="1076"/>
        <pc:sldMkLst>
          <pc:docMk/>
          <pc:sldMk cId="3524378883" sldId="262"/>
        </pc:sldMkLst>
        <pc:spChg chg="mod">
          <ac:chgData name="KHANG HUYNH" userId="S::104849346@student.swin.edu.au::347543c0-edcb-4551-9dae-56ac1e040b3a" providerId="AD" clId="Web-{2B7AB946-F2D1-48D6-A65E-AD2387DC5DA7}" dt="2026-06-01T14:59:23.489" v="10" actId="1076"/>
          <ac:spMkLst>
            <pc:docMk/>
            <pc:sldMk cId="3524378883" sldId="262"/>
            <ac:spMk id="3" creationId="{60843CA0-981B-8DEA-1F12-403266F52C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288E-399F-A7AC-3AF3-469C3E8EF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1E5B4-9821-9CDC-8986-FD94D9E8A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E6D5E-CF68-12CF-A582-8EA308F2D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F1A20-5BD8-51CF-D06D-EFB09D69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259B2-1853-A640-BDDC-CAC52209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9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935D-B04F-BCAF-D552-B2F55710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A19E-1A0D-459A-0D82-85B767CFC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8DE62-B28A-2A6B-D87C-D9F40B2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24076-B4EB-9722-C2C5-CE0219CD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940CD-6F19-D288-B26E-AA493ECB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5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38CE-658C-CFBB-41DC-0F5B95E2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94A27-25A5-2ED7-1C0F-D9C976F27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01C67-1F59-00AF-1DB5-D616BC0A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D6041-B78D-F2C8-F698-28C76ADA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9AFDF-6AEF-2B37-7778-6802C948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01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06ED-F1C1-8397-C166-A788CD19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D4CEB-AE5F-6EE9-6DDA-20C75A648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B0DF1-426B-38F9-4C69-92E8AAE9C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FB3A0-EED5-B108-9F7F-85729E05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28A68-D240-8AA9-69A0-2C60B24E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F9996-5425-5A9F-EC6D-377A75F8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4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EFC5-78C6-C8EA-FB76-2FDD6380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05711-1C28-1164-29BD-6176CEDCB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DB43A-00F6-411F-84C9-89558020D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22FFA-E204-88CB-5035-7CEEE1E12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2B948-FAD9-623B-3482-6F965A5C5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2292C-B647-5680-5E59-43D019B7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F38D1-A120-CF12-6751-86288E05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5794FE-1EFA-C184-7B8B-5C0342E7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3ABB-A15A-8F26-AFA3-AD2F253D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4DEBF-B248-1988-4BD2-4BD87E38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43586-4A74-834E-12E0-705D5833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0D5F0-6E43-D707-6143-36A96997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2FCBA-A15E-5F39-9EF1-1BD2748E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D0A81-1309-9690-0ECF-D846BC98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57A94-4D6D-FF87-A190-EF400139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6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B3FD-CB7C-2E92-63D5-A28C106C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6F77-F176-C0A4-0E8C-DEE1A6FD3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D8224-F234-CAFF-4271-84222F44A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CAA93-4B29-FDC8-A958-8F202DAA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F2AB7-CD52-35C6-51A4-7DA3579D8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BBCC4-C124-DE11-1380-AB4C1437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3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7B89-BC6F-800D-4CC7-80021CCF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7963C-EF14-9185-C19E-CE078E235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D26EC-2EA5-84F5-A778-A4BB7B1DF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3073B-8442-F0CB-1655-39BAC1FFF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CA22E-4580-E621-D9A6-77C965F9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C732C-271F-6E49-88EC-B86B1EDE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191C-04C0-B8AA-AACD-37FB1A2B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DC847-970D-E0CC-BA41-032253DA0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2A3A2-E273-D661-29F1-02B984BE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335A2-C895-24B2-46C9-25397ACF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68828-376E-10FD-4DD7-BF6DB4FC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4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143AB-17A2-C2C1-18C4-628F7A453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1ABA4-39A9-FC0C-D090-737653271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97345-92CD-A147-3FA1-1310DB5E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E93E7-3BFB-0283-7E83-8A9416E8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1CE32-D24D-33A2-A9BE-6192869E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8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8C4B87-07AE-E85C-0082-63E314B6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46D04-6E08-E5CA-BD89-D64BB30A0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D68C-CB75-3BAF-1664-4EFC7B4C9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15E80-965E-46ED-9111-FA18557D12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E7F6E-1254-2E30-7425-8FF41D31B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1A8CC-747A-EC77-E50B-13F160346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B8B77-58C8-4914-B00A-B517B2FF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5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F416-9FEC-992D-2F52-C91954580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83" y="0"/>
            <a:ext cx="6933112" cy="231612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Project Stands up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EBEC5-698F-0D4D-0306-3038D88FD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81" r="32443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0D1297-3C38-EF28-A7BB-DEA5887FC15E}"/>
              </a:ext>
            </a:extLst>
          </p:cNvPr>
          <p:cNvSpPr txBox="1"/>
          <p:nvPr/>
        </p:nvSpPr>
        <p:spPr>
          <a:xfrm>
            <a:off x="76200" y="2699657"/>
            <a:ext cx="8088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cs typeface="Arial" panose="020B0604020202020204" pitchFamily="34" charset="0"/>
              </a:rPr>
              <a:t>Project:</a:t>
            </a:r>
            <a:r>
              <a:rPr lang="en-US" sz="2400">
                <a:cs typeface="Arial" panose="020B0604020202020204" pitchFamily="34" charset="0"/>
              </a:rPr>
              <a:t> </a:t>
            </a:r>
            <a:r>
              <a:rPr lang="en-US" sz="2400" err="1">
                <a:cs typeface="Arial" panose="020B0604020202020204" pitchFamily="34" charset="0"/>
              </a:rPr>
              <a:t>Hospitalised</a:t>
            </a:r>
            <a:r>
              <a:rPr lang="en-US" sz="2400">
                <a:cs typeface="Arial" panose="020B0604020202020204" pitchFamily="34" charset="0"/>
              </a:rPr>
              <a:t> Injuries from Road Crashes in Australia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Team name:</a:t>
            </a:r>
            <a:r>
              <a:rPr lang="en-US" sz="2400">
                <a:cs typeface="Arial" panose="020B0604020202020204" pitchFamily="34" charset="0"/>
              </a:rPr>
              <a:t> DV14_T07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Members:</a:t>
            </a:r>
            <a:r>
              <a:rPr lang="en-US" sz="2400">
                <a:cs typeface="Arial" panose="020B0604020202020204" pitchFamily="34" charset="0"/>
              </a:rPr>
              <a:t> Viet Nguyen (David) &amp; Khang Huynh (Lio)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Tutor:</a:t>
            </a:r>
            <a:r>
              <a:rPr lang="en-US" sz="2400">
                <a:cs typeface="Arial" panose="020B0604020202020204" pitchFamily="34" charset="0"/>
              </a:rPr>
              <a:t> </a:t>
            </a:r>
            <a:r>
              <a:rPr lang="en-US" sz="2400" err="1">
                <a:cs typeface="Arial" panose="020B0604020202020204" pitchFamily="34" charset="0"/>
              </a:rPr>
              <a:t>Raihaneh</a:t>
            </a:r>
            <a:r>
              <a:rPr lang="en-US" sz="2400">
                <a:cs typeface="Arial" panose="020B0604020202020204" pitchFamily="34" charset="0"/>
              </a:rPr>
              <a:t> </a:t>
            </a:r>
            <a:r>
              <a:rPr lang="en-US" sz="2400" err="1">
                <a:cs typeface="Arial" panose="020B0604020202020204" pitchFamily="34" charset="0"/>
              </a:rPr>
              <a:t>Aghaie</a:t>
            </a:r>
            <a:endParaRPr lang="en-US" sz="24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9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69CC-0529-EDD6-A3FE-0D6D9D50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A6FA1F-5B73-E906-3F08-79A71F02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81" r="32443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1D07978-0ED0-E500-DF24-5F6CDF184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927" y="0"/>
            <a:ext cx="9144000" cy="2144485"/>
          </a:xfrm>
        </p:spPr>
        <p:txBody>
          <a:bodyPr>
            <a:normAutofit/>
          </a:bodyPr>
          <a:lstStyle/>
          <a:p>
            <a:r>
              <a:rPr lang="en-US" b="1"/>
              <a:t>Updates – Work Completed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9CCE2-824D-2E88-0700-D10F2D97D399}"/>
              </a:ext>
            </a:extLst>
          </p:cNvPr>
          <p:cNvSpPr txBox="1"/>
          <p:nvPr/>
        </p:nvSpPr>
        <p:spPr>
          <a:xfrm>
            <a:off x="335934" y="2144485"/>
            <a:ext cx="87148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 Pivoted from flat Figma → 3D holographic data cube (in direct response to Week 11 feedback)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4 D3 chart types as cube faces: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Stream graph — road-user trends 2011–2021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Parliament chart — composition for selected year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Waffle chart — share of selected year (100 cells = 100%)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Choropleth map — </a:t>
            </a:r>
            <a:r>
              <a:rPr lang="en-US" dirty="0" err="1"/>
              <a:t>hospitalisations</a:t>
            </a:r>
            <a:r>
              <a:rPr lang="en-US" dirty="0"/>
              <a:t> by state </a:t>
            </a:r>
          </a:p>
          <a:p>
            <a:pPr marL="287338" lvl="1" indent="-285750">
              <a:buFont typeface="Arial" panose="020B0604020202020204" pitchFamily="34" charset="0"/>
              <a:buChar char="•"/>
            </a:pPr>
            <a:r>
              <a:rPr lang="en-US" dirty="0"/>
              <a:t>Built full 3D interaction: drag-to-spin, auto-rotate, snap-to-face buttons, keyboard shortcuts </a:t>
            </a:r>
          </a:p>
          <a:p>
            <a:pPr marL="287338" lvl="1" indent="-285750">
              <a:buFont typeface="Arial" panose="020B0604020202020204" pitchFamily="34" charset="0"/>
              <a:buChar char="•"/>
            </a:pPr>
            <a:r>
              <a:rPr lang="en-US" dirty="0"/>
              <a:t>Tilt clamped to ±18° so the cube can't be flipped upside-down </a:t>
            </a:r>
          </a:p>
          <a:p>
            <a:pPr marL="287338" lvl="1" indent="-285750">
              <a:buFont typeface="Arial" panose="020B0604020202020204" pitchFamily="34" charset="0"/>
              <a:buChar char="•"/>
            </a:pPr>
            <a:r>
              <a:rPr lang="en-US" dirty="0"/>
              <a:t>Cross-face linking: clicking a state on the choropleth filters the other 3 faces</a:t>
            </a:r>
          </a:p>
          <a:p>
            <a:pPr marL="287338" lvl="1" indent="-285750">
              <a:buFont typeface="Arial" panose="020B0604020202020204" pitchFamily="34" charset="0"/>
              <a:buChar char="•"/>
            </a:pPr>
            <a:r>
              <a:rPr lang="en-US" dirty="0"/>
              <a:t>Holographic dark-glass theme — cube sits in a sci-fi "projection chamber" Layout fits one viewport — no page scrolling </a:t>
            </a:r>
          </a:p>
          <a:p>
            <a:pPr marL="287338" lvl="1" indent="-285750">
              <a:buFont typeface="Arial" panose="020B0604020202020204" pitchFamily="34" charset="0"/>
              <a:buChar char="•"/>
            </a:pPr>
            <a:r>
              <a:rPr lang="en-US" dirty="0"/>
              <a:t>Filter panel rebuilt: year, state, road-user multi-select, metric toggle, reset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128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311B-F476-D018-6E3E-43021A89E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5A4555-3334-58D1-21F1-2B7CA48A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81" r="32443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90E7436-2ED9-6370-BAFA-6988CD47D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927" y="0"/>
            <a:ext cx="9144000" cy="2144485"/>
          </a:xfrm>
        </p:spPr>
        <p:txBody>
          <a:bodyPr>
            <a:normAutofit/>
          </a:bodyPr>
          <a:lstStyle/>
          <a:p>
            <a:r>
              <a:rPr lang="en-US" dirty="0"/>
              <a:t>Iteration &amp; Validation (Design Book §4)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B82A0-5919-3A43-EB68-ADAD9755356A}"/>
              </a:ext>
            </a:extLst>
          </p:cNvPr>
          <p:cNvSpPr txBox="1"/>
          <p:nvPr/>
        </p:nvSpPr>
        <p:spPr>
          <a:xfrm>
            <a:off x="335934" y="2144485"/>
            <a:ext cx="8714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  <a:r>
              <a:rPr lang="en-US" altLang="en-US" dirty="0"/>
              <a:t>Week 11 Figma — tutor feedback: not more creative than BITRE/AIHW reference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Week 12 redesign — discarded flat 4-panel layout, rebuilt as rotating cube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4 chart types in our cube that are NOT in the BITRE dashboard: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  Stream graph, Parliament chart, Waffle chart, Choropleth map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Side-by-side comparison table added to Design Book §4.1 (BITRE vs Figma vs Cube)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Usability test plan drafted: 4 tasks, SUS score, 3–5 testers in Week 13</a:t>
            </a:r>
          </a:p>
        </p:txBody>
      </p:sp>
    </p:spTree>
    <p:extLst>
      <p:ext uri="{BB962C8B-B14F-4D97-AF65-F5344CB8AC3E}">
        <p14:creationId xmlns:p14="http://schemas.microsoft.com/office/powerpoint/2010/main" val="327377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5014-210F-6F2A-379C-69C07FD4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024"/>
            <a:ext cx="9906000" cy="1382156"/>
          </a:xfrm>
        </p:spPr>
        <p:txBody>
          <a:bodyPr/>
          <a:lstStyle/>
          <a:p>
            <a:r>
              <a:rPr lang="en-US" b="1"/>
              <a:t>Blockers &amp; Challenges</a:t>
            </a:r>
            <a:br>
              <a:rPr lang="en-US" b="1"/>
            </a:b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43CA0-981B-8DEA-1F12-403266F52C39}"/>
              </a:ext>
            </a:extLst>
          </p:cNvPr>
          <p:cNvSpPr txBox="1"/>
          <p:nvPr/>
        </p:nvSpPr>
        <p:spPr>
          <a:xfrm>
            <a:off x="386187" y="1068292"/>
            <a:ext cx="11427123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CSS 3D vs. WebGL:</a:t>
            </a:r>
            <a:r>
              <a:rPr lang="en-US" dirty="0">
                <a:ea typeface="+mn-lt"/>
                <a:cs typeface="+mn-lt"/>
              </a:rPr>
              <a:t> Opted for </a:t>
            </a:r>
            <a:r>
              <a:rPr lang="en-US" b="1" dirty="0">
                <a:ea typeface="+mn-lt"/>
                <a:cs typeface="+mn-lt"/>
              </a:rPr>
              <a:t>CSS 3D Transforms</a:t>
            </a:r>
            <a:r>
              <a:rPr lang="en-US" dirty="0">
                <a:ea typeface="+mn-lt"/>
                <a:cs typeface="+mn-lt"/>
              </a:rPr>
              <a:t> over Three.js to maintain "live" D3 interactivity. This avoided the "static texture" limitation of WebGL, keeping tooltips and hover effects functional.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Synchronized State Management:</a:t>
            </a:r>
            <a:r>
              <a:rPr lang="en-US" dirty="0">
                <a:ea typeface="+mn-lt"/>
                <a:cs typeface="+mn-lt"/>
              </a:rPr>
              <a:t> Developed a centralized JavaScript handler to instantly propagate data filters (Year, State, Road User) across all six cube faces simultaneously.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3D Coordinate Mapping:</a:t>
            </a:r>
            <a:r>
              <a:rPr lang="en-US" dirty="0">
                <a:ea typeface="+mn-lt"/>
                <a:cs typeface="+mn-lt"/>
              </a:rPr>
              <a:t> Engineered a custom drag-to-rotate system using pointer events, resolving "gimbal lock" and flipping glitches when crossing 90 degree / 180 degree thresholds.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The "Moving Target" Solution:</a:t>
            </a:r>
            <a:r>
              <a:rPr lang="en-US" dirty="0">
                <a:ea typeface="+mn-lt"/>
                <a:cs typeface="+mn-lt"/>
              </a:rPr>
              <a:t> Mitigated the difficulty of interacting with a rotating object by implementing </a:t>
            </a:r>
            <a:r>
              <a:rPr lang="en-US" b="1" dirty="0">
                <a:ea typeface="+mn-lt"/>
                <a:cs typeface="+mn-lt"/>
              </a:rPr>
              <a:t>"Snap-to-Face"</a:t>
            </a:r>
            <a:r>
              <a:rPr lang="en-US" dirty="0">
                <a:ea typeface="+mn-lt"/>
                <a:cs typeface="+mn-lt"/>
              </a:rPr>
              <a:t> buttons and an </a:t>
            </a:r>
            <a:r>
              <a:rPr lang="en-US" b="1" dirty="0">
                <a:ea typeface="+mn-lt"/>
                <a:cs typeface="+mn-lt"/>
              </a:rPr>
              <a:t>Auto-Pause</a:t>
            </a:r>
            <a:r>
              <a:rPr lang="en-US" dirty="0">
                <a:ea typeface="+mn-lt"/>
                <a:cs typeface="+mn-lt"/>
              </a:rPr>
              <a:t> feature triggered by mouse-over.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Mobile Gesture Conflict:</a:t>
            </a:r>
            <a:r>
              <a:rPr lang="en-US" dirty="0">
                <a:ea typeface="+mn-lt"/>
                <a:cs typeface="+mn-lt"/>
              </a:rPr>
              <a:t> Managed event propagation (bubbling) to distinguish between "swipe-to-rotate" gestures and "touch-to-filter" interactions on mobile devices.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Information Density &amp; Scaling:</a:t>
            </a:r>
            <a:r>
              <a:rPr lang="en-US" dirty="0">
                <a:ea typeface="+mn-lt"/>
                <a:cs typeface="+mn-lt"/>
              </a:rPr>
              <a:t> Balanced complex data visualizations (Stream/Multi-line graphs) within confined cube faces using responsive SVG </a:t>
            </a:r>
            <a:r>
              <a:rPr lang="en-US" dirty="0" err="1">
                <a:ea typeface="+mn-lt"/>
                <a:cs typeface="+mn-lt"/>
              </a:rPr>
              <a:t>viewboxes</a:t>
            </a:r>
            <a:r>
              <a:rPr lang="en-US" dirty="0">
                <a:ea typeface="+mn-lt"/>
                <a:cs typeface="+mn-lt"/>
              </a:rPr>
              <a:t> and dynamic CSS scaling.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37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B5CF-60A4-D644-0AB9-0ED9630B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06000" cy="1382156"/>
          </a:xfrm>
        </p:spPr>
        <p:txBody>
          <a:bodyPr/>
          <a:lstStyle/>
          <a:p>
            <a:r>
              <a:rPr lang="en-US" b="1"/>
              <a:t>Next Steps</a:t>
            </a:r>
            <a:br>
              <a:rPr lang="en-US" b="1"/>
            </a:b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F48A0-ECA4-1CC1-10DD-DE5ED60CA5EC}"/>
              </a:ext>
            </a:extLst>
          </p:cNvPr>
          <p:cNvSpPr txBox="1"/>
          <p:nvPr/>
        </p:nvSpPr>
        <p:spPr>
          <a:xfrm>
            <a:off x="828185" y="923979"/>
            <a:ext cx="100692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Week 13: usability testing — 3–5 users, SUS questionnaire, fix issues raised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Finalise</a:t>
            </a:r>
            <a:r>
              <a:rPr lang="en-US" sz="2400" dirty="0"/>
              <a:t> Design Book — complete sub-sections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Pull ABS state population data → enable Rate-per-100k toggle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Deploy </a:t>
            </a:r>
            <a:r>
              <a:rPr lang="en-US" sz="2400" dirty="0"/>
              <a:t>final build to Swinburne Mercury server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Accessibility &amp; mobile polish — keyboard reading, pinch-zoom on cube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40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1F74-FDA3-9C4B-B720-B462E9CE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 for your Listening 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7B18EDB-ADB5-5E3A-1C87-8E84434993BF}"/>
              </a:ext>
            </a:extLst>
          </p:cNvPr>
          <p:cNvSpPr/>
          <p:nvPr/>
        </p:nvSpPr>
        <p:spPr>
          <a:xfrm>
            <a:off x="4754445" y="3429000"/>
            <a:ext cx="1164771" cy="957943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519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Project Stands up 3</vt:lpstr>
      <vt:lpstr>Updates – Work Completed</vt:lpstr>
      <vt:lpstr>Iteration &amp; Validation (Design Book §4)</vt:lpstr>
      <vt:lpstr>Blockers &amp; Challenges </vt:lpstr>
      <vt:lpstr>Next Steps </vt:lpstr>
      <vt:lpstr>Thanks for your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VIET NGUYEN</dc:creator>
  <cp:lastModifiedBy>KHANG HUYNH</cp:lastModifiedBy>
  <cp:revision>7</cp:revision>
  <dcterms:created xsi:type="dcterms:W3CDTF">2026-06-01T13:33:39Z</dcterms:created>
  <dcterms:modified xsi:type="dcterms:W3CDTF">2026-06-01T15:00:20Z</dcterms:modified>
</cp:coreProperties>
</file>